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58" r:id="rId4"/>
    <p:sldId id="267" r:id="rId5"/>
    <p:sldId id="259" r:id="rId6"/>
    <p:sldId id="260" r:id="rId7"/>
    <p:sldId id="261" r:id="rId8"/>
    <p:sldId id="269" r:id="rId9"/>
    <p:sldId id="263" r:id="rId10"/>
    <p:sldId id="262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B732-83F4-4F07-8539-BAC506701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FC542-FCC7-4ECE-B739-A9195012B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C938E-498E-4CC2-A6C1-1C9C3BE9C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FF274-CA41-448A-BD8A-C890BC3F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3FF24-1F98-40B7-9D9A-E64610A4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5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CCB9-1E76-4447-9778-5DCD8C3A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F298-0334-41AA-89A3-D95E9DFDA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51CC-7C81-42D5-ADF7-FC9A4BE7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90A17-C6D8-40AC-A303-809C9217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FDCBB-EE34-42E2-A87C-CAC60C96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45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05717-6DE2-4FE9-8B9F-5CC805097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C99ED-8207-44DE-90BA-B1926639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59827-84D0-4A89-A9A3-7B854848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0C66E-E112-4963-8074-4F6EAA26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933BD-B898-464F-949D-4596303FD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0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1077-B1A1-45FA-810A-14FF94D8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5E53F-2187-4280-A01F-D3FFD2853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A4571-55EB-4FA9-8DF1-B3C1BBACE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95135-037C-47A3-A1D6-3446AED5C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A667D-0B97-4228-8922-E6EC1E84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71B02-ACBE-4FEB-8C60-7CC02EC8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65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BDFC-56A1-47E6-8A72-EED2112A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411B-4D2B-48E0-8786-87502D350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0F977-3EA7-44D9-861D-AA256B3EB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3ED7A-865E-4FEF-9894-301EA8032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3823B-A7A6-4E89-9E3D-05EB88019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FA2CDB-A74B-4432-8F9F-23D7B1674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28C94-F0EF-40A8-B51E-F0F7B5EA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D36DA-996A-4E11-92D7-7C026BAD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17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DDCD-9D7D-4793-88BC-52914FCD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83CE4B-C916-4278-A796-62CA9EF9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EF76E-7DFB-4001-93D4-842627A6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71DE5-785C-4D4A-BDC5-E5B14130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06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1A7ABD-8D26-454A-91C4-D3382AB4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D0F0-66F9-4ACE-B218-6DC07BD7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E141B-75CE-435A-9E1C-2AA6AD21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73AE-6B32-4BB3-B60F-118A580E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CA1AE-4B95-4EE3-AF50-7E3A3BED4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C57BA-A1C4-4D36-9D42-A2D619023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E3573-0A77-47E4-8A86-A9706B52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AF3E-3D5D-4A00-A494-A1BA770E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CBBF-280E-40A0-B471-7A5D3ECC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6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77C3-868C-4886-AA07-7904B7C8A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CB6FB-A063-450B-94E8-67023BBCC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87553-47B1-4D62-B08C-6DB8CC858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7C3ED-81A9-4ADA-8F9E-0CD606ED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1EBA3-09B4-4E6E-84AB-F0C99886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83612-DDCB-4143-A169-095ADAC5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8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775D-731E-472B-8828-EF1DC167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7B0B3-C489-4D15-AB1A-8F4FB7B7E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B74A2-D6FB-4084-872E-E7262872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73016-4AAE-4890-9B67-C23F5DFC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EAA5D-A05D-4769-B995-2958F7D9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0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3776B-92F2-48C0-9A47-38E6D4F82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0E104-CE86-40F2-AAE6-2D261AC8C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DB90-A443-41F1-BF74-DBDD25EE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A28AE-CDDD-408F-8E26-F9AF4560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691C6-B070-4F6F-94D6-AF3966CB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9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829DD-7FAC-4BC4-B333-0555ED25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1C1B7-ECB4-4E92-91C1-4E0E3BF37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8E7A6-48B2-42FE-8AEC-CEC2193A5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C5428-F96D-404B-9520-8A4F56073B66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FA33-F68B-456B-8CBE-DC97F78BE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143CC-C618-4903-B435-53D0A57AD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8D584-1F11-43B4-9647-289A4247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6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imagej.net/plugins/snt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imagej.net/plugins/sn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D4BC-D3A5-44FE-ADAF-40D7607C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099F6-4E54-4A40-89B7-30F7B5F17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detailed instructions can be found here: </a:t>
            </a:r>
            <a:r>
              <a:rPr lang="en-US" dirty="0">
                <a:hlinkClick r:id="rId2"/>
              </a:rPr>
              <a:t>https://imagej.net/plugins/snt/</a:t>
            </a:r>
            <a:endParaRPr lang="en-US" dirty="0"/>
          </a:p>
          <a:p>
            <a:r>
              <a:rPr lang="en-US" dirty="0"/>
              <a:t>Brief documentation by Phoebe and Joe – Last edited 04/15/22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8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BC15-C866-4168-867A-F045090E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using SNT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5690C-DA79-43DA-B6BF-1B43CE078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Use SNT to semi-</a:t>
            </a:r>
            <a:r>
              <a:rPr lang="en-US" dirty="0" err="1"/>
              <a:t>autotrace</a:t>
            </a:r>
            <a:r>
              <a:rPr lang="en-US" dirty="0"/>
              <a:t> branches in order to get the </a:t>
            </a:r>
            <a:r>
              <a:rPr lang="en-US" dirty="0" err="1"/>
              <a:t>xyz</a:t>
            </a:r>
            <a:r>
              <a:rPr lang="en-US" dirty="0"/>
              <a:t> coordinates of traced branch </a:t>
            </a:r>
          </a:p>
          <a:p>
            <a:pPr lvl="1"/>
            <a:r>
              <a:rPr lang="en-US" dirty="0"/>
              <a:t>Additional goals: </a:t>
            </a:r>
          </a:p>
          <a:p>
            <a:pPr lvl="2"/>
            <a:r>
              <a:rPr lang="en-US" dirty="0"/>
              <a:t>Get branch order information</a:t>
            </a:r>
          </a:p>
          <a:p>
            <a:pPr lvl="2"/>
            <a:r>
              <a:rPr lang="en-US" dirty="0"/>
              <a:t>Get information about distance from soma and from nearest proximal/distal branch points</a:t>
            </a:r>
          </a:p>
          <a:p>
            <a:r>
              <a:rPr lang="en-US" dirty="0"/>
              <a:t>Workflow: Trace all branches in a neuron </a:t>
            </a:r>
            <a:r>
              <a:rPr lang="en-US" dirty="0">
                <a:sym typeface="Wingdings" panose="05000000000000000000" pitchFamily="2" charset="2"/>
              </a:rPr>
              <a:t> Save measurements (i.e. branch order information)  Run Phoebe’s python code to generate </a:t>
            </a:r>
            <a:r>
              <a:rPr lang="en-US" dirty="0" err="1">
                <a:sym typeface="Wingdings" panose="05000000000000000000" pitchFamily="2" charset="2"/>
              </a:rPr>
              <a:t>xyz</a:t>
            </a:r>
            <a:r>
              <a:rPr lang="en-US" dirty="0">
                <a:sym typeface="Wingdings" panose="05000000000000000000" pitchFamily="2" charset="2"/>
              </a:rPr>
              <a:t> coordinates for each branch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5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0BB5-ABC0-43D3-8AF9-AB416DC2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B32A4-1635-46E7-80D7-A3386FC10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https://imagej.net/plugins/snt/</a:t>
            </a:r>
            <a:r>
              <a:rPr lang="en-US" dirty="0"/>
              <a:t> and follow instructions on “Installation” section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96F2AF-C114-4FBA-A6E9-EE490CF41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428" y="3142114"/>
            <a:ext cx="72675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1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EE06-7DE3-4ED2-B4A2-223275CF6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SNT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A6A94-52B3-4A9E-845E-BC7FCD7CD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693" y="1696137"/>
            <a:ext cx="4038600" cy="5091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Click SNT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D9DA9-7AE0-4A9D-A489-1C0A2431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03" y="1919754"/>
            <a:ext cx="6162675" cy="109537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34A8E6D-7D3B-4195-B4CC-DA5BC0E299A7}"/>
              </a:ext>
            </a:extLst>
          </p:cNvPr>
          <p:cNvSpPr/>
          <p:nvPr/>
        </p:nvSpPr>
        <p:spPr>
          <a:xfrm rot="9440398">
            <a:off x="6046958" y="2150565"/>
            <a:ext cx="1042428" cy="357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FDC88-D5B7-4535-AFD3-39490716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89" y="3463830"/>
            <a:ext cx="1628775" cy="27622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ECF85FE-4B18-4B83-892C-AAD7C7814C00}"/>
              </a:ext>
            </a:extLst>
          </p:cNvPr>
          <p:cNvSpPr txBox="1">
            <a:spLocks/>
          </p:cNvSpPr>
          <p:nvPr/>
        </p:nvSpPr>
        <p:spPr>
          <a:xfrm>
            <a:off x="3151093" y="3309472"/>
            <a:ext cx="4038600" cy="509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Click SNT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4FC4D31-4463-4606-AED3-E99E44D0A05C}"/>
              </a:ext>
            </a:extLst>
          </p:cNvPr>
          <p:cNvSpPr/>
          <p:nvPr/>
        </p:nvSpPr>
        <p:spPr>
          <a:xfrm rot="9440398">
            <a:off x="2024061" y="3581184"/>
            <a:ext cx="1042428" cy="357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9A577D3-CD76-45F6-9194-EA52714FD4A3}"/>
              </a:ext>
            </a:extLst>
          </p:cNvPr>
          <p:cNvSpPr txBox="1">
            <a:spLocks/>
          </p:cNvSpPr>
          <p:nvPr/>
        </p:nvSpPr>
        <p:spPr>
          <a:xfrm>
            <a:off x="8255739" y="3870889"/>
            <a:ext cx="4038600" cy="129097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Browse to image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Can also load .traces file as reconstruction file if you’ve already started tracing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Tracing channel should be cell fill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1CAEE7-095F-4A49-905D-79636540E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534" y="3564062"/>
            <a:ext cx="33432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4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80F76-3102-4B0B-8236-CAC58EDE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1" y="-197128"/>
            <a:ext cx="11773654" cy="1325563"/>
          </a:xfrm>
        </p:spPr>
        <p:txBody>
          <a:bodyPr/>
          <a:lstStyle/>
          <a:p>
            <a:r>
              <a:rPr lang="en-US" dirty="0"/>
              <a:t>Settings: this is a screenshot of Phoebe’s settings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FCF83-02A3-40F7-980A-1EA7FBAEC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15" y="926801"/>
            <a:ext cx="8043685" cy="5478193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BDF0895-5B62-4D0F-9900-F850B63F8734}"/>
              </a:ext>
            </a:extLst>
          </p:cNvPr>
          <p:cNvSpPr/>
          <p:nvPr/>
        </p:nvSpPr>
        <p:spPr>
          <a:xfrm rot="20795990">
            <a:off x="3132500" y="4192618"/>
            <a:ext cx="981512" cy="1901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EF5CB-14FC-439E-B81E-F58CA7489CBA}"/>
              </a:ext>
            </a:extLst>
          </p:cNvPr>
          <p:cNvSpPr txBox="1"/>
          <p:nvPr/>
        </p:nvSpPr>
        <p:spPr>
          <a:xfrm>
            <a:off x="497941" y="4249111"/>
            <a:ext cx="2797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Checking this box is helpful when scrolling through during tracing</a:t>
            </a:r>
          </a:p>
          <a:p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978EDF3-E3BD-4449-99FA-44EB0E7C3DF7}"/>
              </a:ext>
            </a:extLst>
          </p:cNvPr>
          <p:cNvSpPr/>
          <p:nvPr/>
        </p:nvSpPr>
        <p:spPr>
          <a:xfrm rot="965506" flipV="1">
            <a:off x="3694602" y="1997245"/>
            <a:ext cx="1356613" cy="15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1DBB0D-BA30-4BB3-854A-43CB962B1945}"/>
              </a:ext>
            </a:extLst>
          </p:cNvPr>
          <p:cNvSpPr txBox="1"/>
          <p:nvPr/>
        </p:nvSpPr>
        <p:spPr>
          <a:xfrm>
            <a:off x="1018865" y="1206825"/>
            <a:ext cx="27975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this to 2 if you want to place markers closer to where your cursor is instead of snapping to dendrite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82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35A8-A264-458A-A870-6D8DD5AC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Settings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C1E9767-BA85-43B3-AFF1-8F1E69872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9435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Go to “Options” </a:t>
            </a:r>
            <a:r>
              <a:rPr lang="en-US" sz="2000" dirty="0">
                <a:sym typeface="Wingdings" panose="05000000000000000000" pitchFamily="2" charset="2"/>
              </a:rPr>
              <a:t> “Preferences”  Make sure that “Use compression when saving traces” is unclicked.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If this is clicked, the saved .traces file is compressed and cannot be read easily. 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If this is unclicked, the saved .traces file can be easily opened (i.e. with </a:t>
            </a:r>
            <a:r>
              <a:rPr lang="en-US" sz="2000" dirty="0" err="1">
                <a:sym typeface="Wingdings" panose="05000000000000000000" pitchFamily="2" charset="2"/>
              </a:rPr>
              <a:t>NotePad</a:t>
            </a:r>
            <a:r>
              <a:rPr lang="en-US" sz="2000" dirty="0">
                <a:sym typeface="Wingdings" panose="05000000000000000000" pitchFamily="2" charset="2"/>
              </a:rPr>
              <a:t>)</a:t>
            </a:r>
            <a:endParaRPr lang="en-US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F314E3-C02B-4D5E-87F3-4F5D1037E44F}"/>
              </a:ext>
            </a:extLst>
          </p:cNvPr>
          <p:cNvGrpSpPr/>
          <p:nvPr/>
        </p:nvGrpSpPr>
        <p:grpSpPr>
          <a:xfrm>
            <a:off x="6096000" y="1266740"/>
            <a:ext cx="5669471" cy="4915948"/>
            <a:chOff x="6096000" y="1266740"/>
            <a:chExt cx="5669471" cy="491594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34EE1D0-CE1A-41EC-9A48-067F15983167}"/>
                </a:ext>
              </a:extLst>
            </p:cNvPr>
            <p:cNvGrpSpPr/>
            <p:nvPr/>
          </p:nvGrpSpPr>
          <p:grpSpPr>
            <a:xfrm>
              <a:off x="6096000" y="1266740"/>
              <a:ext cx="5669471" cy="4915948"/>
              <a:chOff x="6096000" y="1266740"/>
              <a:chExt cx="5669471" cy="491594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0FC95DA-D9F4-4CF9-86F2-60ED55D057C4}"/>
                  </a:ext>
                </a:extLst>
              </p:cNvPr>
              <p:cNvGrpSpPr/>
              <p:nvPr/>
            </p:nvGrpSpPr>
            <p:grpSpPr>
              <a:xfrm>
                <a:off x="6096000" y="1266740"/>
                <a:ext cx="2010911" cy="4915948"/>
                <a:chOff x="4504888" y="1124126"/>
                <a:chExt cx="2010911" cy="4915948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BB7ACAED-24FB-46E8-9FFE-ED0B5A5D62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3340" t="1891" r="3338" b="1458"/>
                <a:stretch/>
              </p:blipFill>
              <p:spPr>
                <a:xfrm>
                  <a:off x="4577942" y="1124126"/>
                  <a:ext cx="1937857" cy="4915948"/>
                </a:xfrm>
                <a:prstGeom prst="rect">
                  <a:avLst/>
                </a:prstGeom>
              </p:spPr>
            </p:pic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704D7A5-E9D3-49C5-9A99-60E9D44A26EC}"/>
                    </a:ext>
                  </a:extLst>
                </p:cNvPr>
                <p:cNvSpPr/>
                <p:nvPr/>
              </p:nvSpPr>
              <p:spPr>
                <a:xfrm>
                  <a:off x="4504888" y="5704514"/>
                  <a:ext cx="855677" cy="251669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7901037-1BBC-4159-93B1-C7C572217C92}"/>
                  </a:ext>
                </a:extLst>
              </p:cNvPr>
              <p:cNvGrpSpPr/>
              <p:nvPr/>
            </p:nvGrpSpPr>
            <p:grpSpPr>
              <a:xfrm>
                <a:off x="8539381" y="1339571"/>
                <a:ext cx="3226090" cy="2752725"/>
                <a:chOff x="3942214" y="1968746"/>
                <a:chExt cx="3226090" cy="2752725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CBAA094D-6326-45C9-9629-5B5452A1AA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58379" y="1968746"/>
                  <a:ext cx="3209925" cy="2752725"/>
                </a:xfrm>
                <a:prstGeom prst="rect">
                  <a:avLst/>
                </a:prstGeom>
              </p:spPr>
            </p:pic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B42F0CB-E499-46E4-AB00-9B14F0123663}"/>
                    </a:ext>
                  </a:extLst>
                </p:cNvPr>
                <p:cNvSpPr/>
                <p:nvPr/>
              </p:nvSpPr>
              <p:spPr>
                <a:xfrm>
                  <a:off x="3942214" y="3303165"/>
                  <a:ext cx="2153786" cy="251669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9" name="Connector: Elbow 18">
                <a:extLst>
                  <a:ext uri="{FF2B5EF4-FFF2-40B4-BE49-F238E27FC236}">
                    <a16:creationId xmlns:a16="http://schemas.microsoft.com/office/drawing/2014/main" id="{E44F65F0-E54E-410B-A40A-247182E08DB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589029" y="3703217"/>
                <a:ext cx="2818700" cy="1720791"/>
              </a:xfrm>
              <a:prstGeom prst="bentConnector3">
                <a:avLst>
                  <a:gd name="adj1" fmla="val 0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4EA65A-EAB0-4A30-A000-110881FE463C}"/>
                </a:ext>
              </a:extLst>
            </p:cNvPr>
            <p:cNvSpPr/>
            <p:nvPr/>
          </p:nvSpPr>
          <p:spPr>
            <a:xfrm>
              <a:off x="6490010" y="1996068"/>
              <a:ext cx="647973" cy="25166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242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D847-2C58-4B40-8CBC-61A2CB5E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 shortcuts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993B1-A447-461F-8C49-1D556D9F9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If you want to trace branch by placing two nodes at start and end of branch:</a:t>
            </a:r>
          </a:p>
          <a:p>
            <a:pPr lvl="1"/>
            <a:r>
              <a:rPr lang="en-US" dirty="0"/>
              <a:t>Click start of branch </a:t>
            </a:r>
            <a:r>
              <a:rPr lang="en-US" dirty="0">
                <a:sym typeface="Wingdings" panose="05000000000000000000" pitchFamily="2" charset="2"/>
              </a:rPr>
              <a:t> Click end of branch  Press “F” (for </a:t>
            </a:r>
            <a:r>
              <a:rPr lang="en-US" i="1" dirty="0">
                <a:sym typeface="Wingdings" panose="05000000000000000000" pitchFamily="2" charset="2"/>
              </a:rPr>
              <a:t>F</a:t>
            </a:r>
            <a:r>
              <a:rPr lang="en-US" dirty="0">
                <a:sym typeface="Wingdings" panose="05000000000000000000" pitchFamily="2" charset="2"/>
              </a:rPr>
              <a:t>inalized)</a:t>
            </a:r>
          </a:p>
          <a:p>
            <a:pPr lvl="2"/>
            <a:r>
              <a:rPr lang="en-US" dirty="0"/>
              <a:t>The branch should be automatically traced by brightness and “Path(n)” will appear in the Path Manager</a:t>
            </a:r>
          </a:p>
          <a:p>
            <a:r>
              <a:rPr lang="en-US" dirty="0"/>
              <a:t>If you want to manually place more nodes:</a:t>
            </a:r>
          </a:p>
          <a:p>
            <a:pPr lvl="1"/>
            <a:r>
              <a:rPr lang="en-US" dirty="0"/>
              <a:t>Click start of branch </a:t>
            </a:r>
            <a:r>
              <a:rPr lang="en-US" dirty="0">
                <a:sym typeface="Wingdings" panose="05000000000000000000" pitchFamily="2" charset="2"/>
              </a:rPr>
              <a:t> Click next branch point  Press “Y” (for </a:t>
            </a:r>
            <a:r>
              <a:rPr lang="en-US" i="1" dirty="0">
                <a:sym typeface="Wingdings" panose="05000000000000000000" pitchFamily="2" charset="2"/>
              </a:rPr>
              <a:t>Y</a:t>
            </a:r>
            <a:r>
              <a:rPr lang="en-US" dirty="0">
                <a:sym typeface="Wingdings" panose="05000000000000000000" pitchFamily="2" charset="2"/>
              </a:rPr>
              <a:t>es)… Press “F” at end of branch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If you made a mistake, just press “N”</a:t>
            </a:r>
          </a:p>
          <a:p>
            <a:r>
              <a:rPr lang="en-US" dirty="0">
                <a:sym typeface="Wingdings" panose="05000000000000000000" pitchFamily="2" charset="2"/>
              </a:rPr>
              <a:t>To select traced branch: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Type “G” while hovering cursor near the branch you want to select on the image</a:t>
            </a:r>
          </a:p>
          <a:p>
            <a:r>
              <a:rPr lang="en-US" dirty="0">
                <a:sym typeface="Wingdings" panose="05000000000000000000" pitchFamily="2" charset="2"/>
              </a:rPr>
              <a:t>To edit branch: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Select branch to edit in Path Manager  Right click on image  Edit Path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Or press shift E while branch is highlighted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Press shift E again to exit edit mode</a:t>
            </a:r>
          </a:p>
          <a:p>
            <a:r>
              <a:rPr lang="en-US" dirty="0">
                <a:sym typeface="Wingdings" panose="05000000000000000000" pitchFamily="2" charset="2"/>
              </a:rPr>
              <a:t>To draw/connect a child branch, press G or select parent branch  Press Alt-shift to get Fork Point  Trace child branch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58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D847-2C58-4B40-8CBC-61A2CB5E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 shortcuts: connecting branches that were already traced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993B1-A447-461F-8C49-1D556D9F9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92224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ym typeface="Wingdings" panose="05000000000000000000" pitchFamily="2" charset="2"/>
              </a:rPr>
              <a:t>To connect previously traced branches as parent/child (e.g. if you need to edit/add a parent branch after children are already traced, where “parent” refers to the branch closer to the soma and “child” refers to the higher-order branch farther from the soma)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Make sure the parent branch ends on the beginning of the child branch, because this connection step will not create a bunch of nodes between the end of the parent and the beginning of the child branch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Type “G” while hovering cursor near the parent branch to select it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Type shift E to enter edit mode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Hover cursor over the end of the parent branch (the pixel that you want connected to the beginning of the child branch), the pixel you hovered over should appear as a large target shape to show that it’s the active node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Type “G” again to select child branch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Hover cursor over the beginning of the child branch (the pixel you want connected to the end of the parent branch), the pixel you hovered over should appear as a large target shape to show that it’s the active node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Right click and select “connect to Path (n) (node n)”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Check the path manager to make sure the branches are showing up as parent/child the way you expect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B9E6A-978D-491C-80AB-8B00E3CF1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48" y="975078"/>
            <a:ext cx="3234325" cy="355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C2844C-701E-4F41-82D2-442E1FD3A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751" y="2913189"/>
            <a:ext cx="2953922" cy="326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3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C89A-3228-4C51-92B4-5810091E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Setting/Preferences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A9CE1-5F77-47E0-A522-BDEEFBA3C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112"/>
            <a:ext cx="10515600" cy="4693851"/>
          </a:xfrm>
        </p:spPr>
        <p:txBody>
          <a:bodyPr/>
          <a:lstStyle/>
          <a:p>
            <a:r>
              <a:rPr lang="en-US" dirty="0"/>
              <a:t>You can change color of branches based on Path Order. This is just for your own visual preferences:</a:t>
            </a:r>
          </a:p>
          <a:p>
            <a:pPr lvl="1"/>
            <a:r>
              <a:rPr lang="en-US" dirty="0"/>
              <a:t>“Path Manager” </a:t>
            </a:r>
            <a:r>
              <a:rPr lang="en-US" dirty="0">
                <a:sym typeface="Wingdings" panose="05000000000000000000" pitchFamily="2" charset="2"/>
              </a:rPr>
              <a:t> “Analyze”  “Color Coding”  “Color Code Path(s)…”  Choose Color by “Path order”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F1162-3111-403B-A0F4-43A685812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10" y="3071850"/>
            <a:ext cx="5252182" cy="3607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0E69D6-CCB7-4A26-91D5-F8A793B02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225" y="2724050"/>
            <a:ext cx="4460490" cy="395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46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1AF3-769A-42C8-BECC-C01FDEBC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tracing, save the following: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4E1E1-84FB-47CC-9BE8-E5F8B3A76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1" y="1853348"/>
            <a:ext cx="5506844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Measurements to save:</a:t>
            </a:r>
          </a:p>
          <a:p>
            <a:pPr lvl="1"/>
            <a:r>
              <a:rPr lang="en-US" dirty="0"/>
              <a:t>“Path Manager” </a:t>
            </a:r>
            <a:r>
              <a:rPr lang="en-US" dirty="0">
                <a:sym typeface="Wingdings" panose="05000000000000000000" pitchFamily="2" charset="2"/>
              </a:rPr>
              <a:t> “Analyze”  “Measurements”  “Measure Path(s)…”  A window will appear  Click “File” in SNT menu  “Save Tables &amp; Analysis Plots…” to save table as .csv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This gives you length, # of nodes, highest path order, width, height, depth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 SNT menu, click “Analysis”  “Path Properties: Export CSV…”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This gives us more detailed information about branch order (i.e. </a:t>
            </a:r>
            <a:r>
              <a:rPr lang="en-US" dirty="0" err="1"/>
              <a:t>ConnectedPathIDs</a:t>
            </a:r>
            <a:r>
              <a:rPr lang="en-US" dirty="0"/>
              <a:t> and </a:t>
            </a:r>
            <a:r>
              <a:rPr lang="en-US" dirty="0" err="1"/>
              <a:t>ChildPathIDs</a:t>
            </a:r>
            <a:r>
              <a:rPr lang="en-US" dirty="0"/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Save traced branch(es) or entire traced arbor as .traces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“File”  “Export As”  “TRACES…”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You should get a .traces file that looks like the image to the right: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E985A2-0C86-4524-A46D-A265BCED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491" y="1293541"/>
            <a:ext cx="5145589" cy="5073806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9044CE-F1BA-4088-ADBC-6E101204D21F}"/>
              </a:ext>
            </a:extLst>
          </p:cNvPr>
          <p:cNvCxnSpPr/>
          <p:nvPr/>
        </p:nvCxnSpPr>
        <p:spPr>
          <a:xfrm flipV="1">
            <a:off x="5776332" y="4029017"/>
            <a:ext cx="789159" cy="15354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619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0C69-30D4-4F6A-8CF7-3187AB2C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XYZ coordinates of traced branch(es)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44DE1-4DBA-4ED7-86F8-8F3EA4C49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have the .traces file saved for the traced branch(es), run “xyz_coordinates_along_path_FINALIZED.py”</a:t>
            </a:r>
          </a:p>
          <a:p>
            <a:pPr lvl="1"/>
            <a:r>
              <a:rPr lang="en-US" dirty="0"/>
              <a:t>Output of code: a .csv file with the </a:t>
            </a:r>
            <a:r>
              <a:rPr lang="en-US" dirty="0" err="1"/>
              <a:t>xyz</a:t>
            </a:r>
            <a:r>
              <a:rPr lang="en-US" dirty="0"/>
              <a:t> coordinate for each traced branch.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This is what the output of the .csv should look like: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FA487-AE5C-4EED-999A-47498B4E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997" y="3211551"/>
            <a:ext cx="3139630" cy="254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159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94AA-F9C4-4DC0-94FD-53BE9378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ADC7D-A84E-4F6A-A0BA-D87D0127E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Repeat the same steps for ALL the images from the same neuron.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Keep the branch path IDs the same. In other words, trace the branches in the same order and make sure they have the same IDs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Alternatively, branches can be renamed after tracing by right clicking on the branch in the path manager and using the “rename” option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You can either keep the default Path (#) name or change it to “b#” (i.e. Path (1) or b1)</a:t>
            </a:r>
          </a:p>
          <a:p>
            <a:pPr lvl="3"/>
            <a:r>
              <a:rPr lang="en-US" dirty="0">
                <a:solidFill>
                  <a:srgbClr val="FF0000"/>
                </a:solidFill>
              </a:rPr>
              <a:t>Might need to modify the python code accordingly. </a:t>
            </a:r>
          </a:p>
          <a:p>
            <a:r>
              <a:rPr lang="en-US" dirty="0"/>
              <a:t>Could potentially plot the individual branches across all the images as a sanity check or to double check that they are approximately the same.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A “_xyzCoordinates.csv” file for each imaging timepoint, where the .csv file contains </a:t>
            </a:r>
            <a:r>
              <a:rPr lang="en-US" dirty="0" err="1"/>
              <a:t>xyz</a:t>
            </a:r>
            <a:r>
              <a:rPr lang="en-US" dirty="0"/>
              <a:t> info on ENTIRE dendritic arbor (i.e. ALL branches)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Further steps:</a:t>
            </a:r>
          </a:p>
          <a:p>
            <a:pPr lvl="1"/>
            <a:r>
              <a:rPr lang="en-US" dirty="0"/>
              <a:t>Feed the .csv files into the computational python code to have it extract the branch information and the </a:t>
            </a:r>
            <a:r>
              <a:rPr lang="en-US" dirty="0" err="1"/>
              <a:t>xyz</a:t>
            </a:r>
            <a:r>
              <a:rPr lang="en-US" dirty="0"/>
              <a:t> coordinates from the .csv</a:t>
            </a:r>
          </a:p>
        </p:txBody>
      </p:sp>
    </p:spTree>
    <p:extLst>
      <p:ext uri="{BB962C8B-B14F-4D97-AF65-F5344CB8AC3E}">
        <p14:creationId xmlns:p14="http://schemas.microsoft.com/office/powerpoint/2010/main" val="2182666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1162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SNT</vt:lpstr>
      <vt:lpstr>Goal of using SNT</vt:lpstr>
      <vt:lpstr>Installation</vt:lpstr>
      <vt:lpstr>Starting SNT</vt:lpstr>
      <vt:lpstr>Settings: this is a screenshot of Phoebe’s settings</vt:lpstr>
      <vt:lpstr>Additional Settings</vt:lpstr>
      <vt:lpstr>Tracing shortcuts</vt:lpstr>
      <vt:lpstr>Tracing shortcuts: connecting branches that were already traced</vt:lpstr>
      <vt:lpstr>Additional Setting/Preferences</vt:lpstr>
      <vt:lpstr>After tracing, save the following:</vt:lpstr>
      <vt:lpstr>Get XYZ coordinates of traced branch(es)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Nedivi Lab</dc:creator>
  <cp:lastModifiedBy>Joe</cp:lastModifiedBy>
  <cp:revision>18</cp:revision>
  <dcterms:created xsi:type="dcterms:W3CDTF">2022-03-05T20:39:50Z</dcterms:created>
  <dcterms:modified xsi:type="dcterms:W3CDTF">2022-04-15T18:05:11Z</dcterms:modified>
</cp:coreProperties>
</file>